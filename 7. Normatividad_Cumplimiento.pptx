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17352" cy="5486400"/>
          </a:xfrm>
          <a:prstGeom prst="rect">
            <a:avLst/>
          </a:prstGeom>
          <a:solidFill>
            <a:srgbClr val="16273F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803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4" name="Shape 2"/>
          <p:cNvSpPr/>
          <p:nvPr/>
        </p:nvSpPr>
        <p:spPr>
          <a:xfrm>
            <a:off x="680314" y="5669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5" name="Shape 3"/>
          <p:cNvSpPr/>
          <p:nvPr/>
        </p:nvSpPr>
        <p:spPr>
          <a:xfrm>
            <a:off x="11384280" y="6803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6" name="Shape 4"/>
          <p:cNvSpPr/>
          <p:nvPr/>
        </p:nvSpPr>
        <p:spPr>
          <a:xfrm>
            <a:off x="11497666" y="5669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667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8" name="Shape 6"/>
          <p:cNvSpPr/>
          <p:nvPr/>
        </p:nvSpPr>
        <p:spPr>
          <a:xfrm>
            <a:off x="680314" y="60533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9" name="Shape 7"/>
          <p:cNvSpPr/>
          <p:nvPr/>
        </p:nvSpPr>
        <p:spPr>
          <a:xfrm>
            <a:off x="11384280" y="61667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497666" y="60533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1371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MÓDULO 07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745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Normatividad y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11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una obligación legal se convierte en una decisión de arquitectura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34440" y="4206240"/>
            <a:ext cx="7498080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42062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identificar la normativa que aplica al sistema de un cliente colombiano y traducirla en controles concretos, ubicados sobre componentes concretos.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Profesor: Ing. César Augusto Vega Fernández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OBJETIVO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lleva del módulo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cumplimiento como decisión de diseño, no como anexo legal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20240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20240"/>
            <a:ext cx="50292" cy="9144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8408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20208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2331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qué normativa aplica realmente al sistema del cliente, y cuál no.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2953512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953512"/>
            <a:ext cx="50292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8408" y="3090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30540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3364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cada obligación legal en un control técnico ubicado en un componente.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3986784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986784"/>
            <a:ext cx="50292" cy="9144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8408" y="41239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40873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3982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el sistema con un checklist y separar lo que cumple de lo que no.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020056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020056"/>
            <a:ext cx="50292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8408" y="51572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51206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Proponer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600200" y="54315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los cambios de arquitectura que cierran cada brecha encontrada.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75320" y="1920240"/>
            <a:ext cx="3227832" cy="414223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 · TALLER 6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251460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datos personales del sistema, con su categoría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aplicable, con la razón de por qué aplica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evaluado componente por componente sobre el diagrama C4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encontradas y el cambio de arquitectura que cada una exige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ENCUADRE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esto es un tema de arquitectura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abogado dice qué hay que cumplir; el arquitecto decide dónde se implementa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5349240" cy="182880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2148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OBLIGACIÓN LEGAL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245059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responsable debe garantizar que la información sea veraz, completa y actualizada, y conservar prueba de la autorización del titular.»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2880360"/>
            <a:ext cx="411480" cy="0"/>
          </a:xfrm>
          <a:prstGeom prst="line">
            <a:avLst/>
          </a:prstGeom>
          <a:noFill/>
          <a:ln w="15875">
            <a:solidFill>
              <a:srgbClr val="B85C2E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85216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traduce 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20840" y="1965960"/>
            <a:ext cx="4782312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C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2148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DECISIÓN DE ARQUITECTURA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450592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de autorizaciones con marca de tiempo y versión del aviso aceptado.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mecanismo de actualización que propague el cambio a los sistemas que copiaron el dato.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inmutable de quién modificó qué y cuándo.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4023360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023360"/>
            <a:ext cx="345643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425196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Sanción económica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4645152"/>
            <a:ext cx="2999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autoridad de protección de datos puede imponer multas de varios miles de salarios mínimos, además de ordenar el cierre temporal de operaciones de tratamiento.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9120" y="4023360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4023360"/>
            <a:ext cx="345643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17720" y="425196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Bloqueo del negocio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4645152"/>
            <a:ext cx="2999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cumplimiento no hay contrato con el Estado ni con clientes corporativos que exijan certificación.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92440" y="4023360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4023360"/>
            <a:ext cx="3456432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425196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reparar tarde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4645152"/>
            <a:ext cx="2999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trazabilidad a un sistema que no la tiene obliga a rediseñar el acceso a datos. Es el mismo costo exponencial del riesgo arquitectónico.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5943600"/>
            <a:ext cx="10820095" cy="50292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" y="594360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incumple a propósito. Se incumple porque el requisito nunca se tradujo a un componente, y en la auditoría no hay dónde señalarlo.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MARCO COLOMBIANO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normativa aplica y a quién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se determina el alcance; después se evalúa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7863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65960"/>
            <a:ext cx="50292" cy="932688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2075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1581 de 2012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3682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 general de protección de datos personales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1965960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toda organización que trate datos personales en Colombia. Es el punto de partida siempre.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2971800"/>
            <a:ext cx="7863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971800"/>
            <a:ext cx="50292" cy="932688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1074 de 2015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7413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Reglamentación (compila el Decreto 1377 de 2013)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2971800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Detalla el consentimiento, los deberes del responsable y el encargado, y el registro de bases de datos.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3977640"/>
            <a:ext cx="7863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977640"/>
            <a:ext cx="50292" cy="93268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4087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1266 de 2008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43799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Habeas data financiero y crediticio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206240" y="3977640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el sistema administra información financiera, crediticia o comercial de personas.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4983480"/>
            <a:ext cx="7863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983480"/>
            <a:ext cx="50292" cy="932688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5093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1712 de 2014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538581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y acceso a la información pública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206240" y="4983480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 entidades públicas y a quienes administran recursos o funciones públicas. Aplica a GobData.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0" y="1965960"/>
            <a:ext cx="2816352" cy="20116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87968" y="21671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NORMAS SECTORIALES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887968" y="2468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Salud: historia clínica y su interoperabilidad.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Financiero: circulares de la Superintendencia Financiera.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política de Gobierno Digital y marco de arquitectura pública.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686800" y="4114800"/>
            <a:ext cx="2816352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C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887968" y="4315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OBLIGACIÓN QUE SE OLVIDA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8887968" y="4645152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las bases de datos ante la autoridad de protección de datos. No es opcional y se verifica en auditoría.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172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normativa cambia. Verifiquen siempre contra la fuente oficial antes de citarla en el entregable.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PRINCIPIOS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ocho principios de la Ley 1581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la decisión de arquitectura que le corresponde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1901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1901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EXIGE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SE IMPLEMENTA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2176272"/>
            <a:ext cx="10820095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217627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1762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Legalidad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1762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se sujeta a la ley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1762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Ninguna: es la condición de todo lo demás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2692908"/>
            <a:ext cx="108200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269290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26929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69290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se usa solo para el fin informado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69290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cada dato con su finalidad y bloquear usos distintos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" y="3209544"/>
            <a:ext cx="10820095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" y="320954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2095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Libertad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2095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consentimiento previo e informado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2095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autorizaciones con versión del aviso y marca de tiempo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5800" y="3726180"/>
            <a:ext cx="108200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" y="37261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37261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Veracidad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7261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debe ser exacto y estar actualizado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37261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rectificación que propague el cambio aguas abajo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85800" y="4242816"/>
            <a:ext cx="10820095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5528" y="424281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43000" y="42428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291840" y="42428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titular puede saber qué datos suyos existen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424281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 consulta de datos propios, no un correo a un buzón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85800" y="4759452"/>
            <a:ext cx="108200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5528" y="475945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" y="47594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restringido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291840" y="47594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accede quien tiene relación con la finalidad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858000" y="47594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por registro, no solo por pantalla o por rol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85800" y="5276088"/>
            <a:ext cx="10820095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95528" y="527608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143000" y="52760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3291840" y="52760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pérdida, acceso o uso no autorizado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858000" y="527608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Cifrado, segmentación y los controles del Módulo 6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85800" y="5792724"/>
            <a:ext cx="108200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95528" y="579272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143000" y="579272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3291840" y="57927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de reserva, incluso después del vínculo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6858000" y="579272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Cláusulas con encargados y revocación de accesos al desvincular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685800" y="63276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ocho, no seis. Los dos que más se omiten son finalidad —el que más consecuencias de diseño tiene— y seguridad, que es todo el Módulo 6.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CLASIFICACIÓN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todos los datos personales son iguales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determina el control, y algunos tienen tratamiento prohibido por defecto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7863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65960"/>
            <a:ext cx="50292" cy="102412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1965960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público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1965960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 en registros públicos o documentos oficiales sin reserva.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0" y="2057400"/>
            <a:ext cx="2606040" cy="84124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44768" y="20574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estándar de integridad y disponibilidad.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063240"/>
            <a:ext cx="7863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063240"/>
            <a:ext cx="50292" cy="102412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3063240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semiprivado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063240" y="3063240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 al titular y a un sector determinado, como el historial crediticio.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35040" y="3154680"/>
            <a:ext cx="2606040" cy="84124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44768" y="315468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restringido y trazabilidad de consultas.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4160520"/>
            <a:ext cx="7863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160520"/>
            <a:ext cx="50292" cy="1024128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4160520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privado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063240" y="4160520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es relevante para el titular: dirección, teléfono, correo personal.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35040" y="4251960"/>
            <a:ext cx="2606040" cy="84124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44768" y="425196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expresa y cifrado en tránsito y reposo.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5257800"/>
            <a:ext cx="7863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5257800"/>
            <a:ext cx="50292" cy="1024128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" y="5257800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sensible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3063240" y="5257800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la intimidad o su uso indebido puede generar discriminación: salud, biometría, origen étnico, convicciones, vida sexual, afiliación sindical.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35040" y="5349240"/>
            <a:ext cx="2606040" cy="84124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44768" y="534924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prohibido salvo excepciones legales. Autorización explícita, y el titular no está obligado a autorizar.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69680" y="1965960"/>
            <a:ext cx="2633472" cy="21031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70848" y="21671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MENORES DE EDAD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9070848" y="2468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niñas, niños y adolescentes tienen protección reforzada: el tratamiento está restringido y debe respetar su interés superior. En sistemas educativos esto es la regla, no la excepción.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869680" y="4206240"/>
            <a:ext cx="263347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B85C2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070848" y="44074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TRANSFERENCIA AL EXTERIOR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070848" y="47091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datos a un país sin nivel adecuado de protección está restringido. Alojar en la nube fuera del país es una transferencia y debe justificarse.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64008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dos minutos: ¿qué categoría tiene cada dato del ERD de su cliente? La respuesta define la mitad de los controles.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RESPONSABILIDADES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responde por qué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de responsabilidad se refleja en la arquitectura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34564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3456432" cy="5486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2240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natural cuyos datos se tratan.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3291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Derechos: conocer, actualizar, rectificar, suprimir y revocar la autorización.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1832" y="4206240"/>
            <a:ext cx="2926080" cy="86868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9848" y="420624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tener una forma de ejercerlos, no un correo de contacto.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2011680"/>
            <a:ext cx="34564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2011680"/>
            <a:ext cx="3456432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45152" y="2240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decide sobre la finalidad y el contenido del tratamiento.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3291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garante principal del cumplimiento ante la autoridad.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45152" y="4206240"/>
            <a:ext cx="2926080" cy="86868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73168" y="420624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proyecto: la organización cliente.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92440" y="2011680"/>
            <a:ext cx="34564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2011680"/>
            <a:ext cx="345643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48472" y="2240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Encargado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834847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trata los datos por cuenta del responsable.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348472" y="3291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instrucciones y no puede usar los datos para fines propios.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48472" y="4206240"/>
            <a:ext cx="2926080" cy="86868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76488" y="420624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arquitectura: cada proveedor de nube, de correo o de analítica.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5800" y="5394960"/>
            <a:ext cx="10820095" cy="96012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0120" y="5394960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importante: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«oficial de protección de datos» es una figura del reglamento europeo. La norma colombiana exige designar una persona o área responsable de atender consultas y reclamos de los titulares, que no es exactamente lo mismo. Cítenlo con precisión en el entregable.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ESTÁNDARES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aplica cada estándar internacional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aplica por defecto: cada uno tiene su disparador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1082009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65960"/>
            <a:ext cx="50292" cy="1024128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2075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386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seguridad de la información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1965960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cliente necesita certificarse, o cuando un contrato se lo exige. Aporta estructura aunque no se certifique.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15400" y="2093976"/>
            <a:ext cx="2587752" cy="768096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34272" y="2093976"/>
            <a:ext cx="2350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Aplicable a casi cualquier cliente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3008376"/>
            <a:ext cx="1082009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008376"/>
            <a:ext cx="50292" cy="102412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3118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europeo de protección de datos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749040" y="3008376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se tratan datos de personas que están en la Unión Europea. No aplica por tener un sitio web accesible desde allá.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15400" y="3136392"/>
            <a:ext cx="2587752" cy="768096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34272" y="3136392"/>
            <a:ext cx="2350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 vez aplica a un cliente local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4050792"/>
            <a:ext cx="1082009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4050792"/>
            <a:ext cx="50292" cy="1024128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PCI-DSS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44714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datos de la industria de tarjetas de pago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749040" y="4050792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el sistema almacena, procesa o transmite datos de tarjeta. Delegar el cobro en una pasarela reduce drásticamente el alcance.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915400" y="4178808"/>
            <a:ext cx="2587752" cy="768096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034272" y="4178808"/>
            <a:ext cx="2350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solo si se tocan datos de tarjeta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5800" y="5093208"/>
            <a:ext cx="1082009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" y="5093208"/>
            <a:ext cx="50292" cy="102412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0120" y="5202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800-53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60120" y="5513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controles de seguridad y privacidad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749040" y="5093208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obligatorio para sistemas federales de Estados Unidos. Fuera de ahí es una referencia de buenas prácticas, no una exigencia.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915400" y="5221224"/>
            <a:ext cx="2587752" cy="768096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34272" y="5221224"/>
            <a:ext cx="2350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Referencia, no obligación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30936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frecuente en el taller: auditar una clínica colombiana contra NIST SP 800-53. Se ve exhaustivo y no significa nada.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METODOLOGÍA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hace una evaluación de cumplimiento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pasos, sobre el diagrama que ya existe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5740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1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Inventariar los datos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2918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qué datos personales maneja el sistema y clasifique cada uno. El ERD del Módulo 3 es el punto de partida.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47288" y="205740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48456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2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648456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Determinar el alcance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648456" y="32918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Establezca qué normativa aplica y por qué. Descarte explícitamente la que no aplica: eso también es un hallazgo.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53328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08776" y="205740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3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409944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cada obligación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9944" y="32918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Recorra el diagrama de contenedores y señale en qué componente vive el control de cada obligación. Si no vive en ninguno, es una brecha.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14816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970264" y="205740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71432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4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9171432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la brecha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171432" y="32918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incumplimiento: qué falta, qué componente hay que cambiar y qué prioridad tiene.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" y="571500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3 es el que distingue este curso de uno de derecho informático:  </a:t>
            </a:r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obligación que no se puede señalar sobre un componente del diagrama todavía no está implementada, por más que aparezca en la política de privacidad.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EL MAPA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vive cada obligación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aplicado componente por componente sobre GobData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19019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OBLIGACIÓN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19019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19019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QUE LA IMPLEMENTA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19019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2176272"/>
            <a:ext cx="10820095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21762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informado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21762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 de trámites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21762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autorización con versión del aviso, canal y marca de tiempo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61320" y="2276856"/>
            <a:ext cx="941832" cy="301752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61320" y="2276856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Cumple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" y="2692908"/>
            <a:ext cx="108200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26929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 declarada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26929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y base de datos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269290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de finalidad por campo; bloqueo de usos no declarados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561320" y="2793492"/>
            <a:ext cx="941832" cy="301752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61320" y="2793492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Brecha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5800" y="3209544"/>
            <a:ext cx="10820095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32095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circulación restringida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931920" y="32095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de aplicación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0" y="32095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por registro según la relación del funcionario con el trámite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561320" y="3310128"/>
            <a:ext cx="941832" cy="301752"/>
          </a:xfrm>
          <a:prstGeom prst="rect">
            <a:avLst/>
          </a:prstGeom>
          <a:solidFill>
            <a:srgbClr val="D8863F"/>
          </a:solidFill>
          <a:ln w="12700">
            <a:solidFill>
              <a:srgbClr val="D886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61320" y="3310128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" y="3726180"/>
            <a:ext cx="108200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37261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auditoría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931920" y="37261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Almacén de bitácora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943600" y="37261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inmutable de acceso, modificación y supresión, separado de la base operativa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561320" y="3826764"/>
            <a:ext cx="941832" cy="301752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61320" y="3826764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Brecha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5800" y="4242816"/>
            <a:ext cx="10820095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4400" y="424281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del titular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3931920" y="424281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 de trámites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943600" y="424281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consulta, rectificación y supresión de datos propios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0561320" y="4343400"/>
            <a:ext cx="941832" cy="301752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61320" y="4343400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Brecha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5800" y="4759452"/>
            <a:ext cx="108200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14400" y="47594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y supresión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3931920" y="47594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de datos y respaldos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5943600" y="47594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retención aplicada también a las copias de seguridad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0561320" y="4860036"/>
            <a:ext cx="941832" cy="301752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561320" y="4860036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Brecha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85800" y="5276088"/>
            <a:ext cx="10820095" cy="47548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14400" y="52760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del dato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3931920" y="5276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 la arquitectura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5943600" y="527608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Cifrado, segmentación de red y los controles del Módulo 6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10561320" y="5376672"/>
            <a:ext cx="941832" cy="301752"/>
          </a:xfrm>
          <a:prstGeom prst="rect">
            <a:avLst/>
          </a:prstGeom>
          <a:solidFill>
            <a:srgbClr val="D8863F"/>
          </a:solidFill>
          <a:ln w="12700">
            <a:solidFill>
              <a:srgbClr val="D8863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561320" y="5376672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85800" y="5792724"/>
            <a:ext cx="108200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14400" y="57927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con encargados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3931920" y="57927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Proveedores externos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5943600" y="579272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Cláusulas de tratamiento con cada proveedor que toca datos personales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10561320" y="5893308"/>
            <a:ext cx="941832" cy="301752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561320" y="5893308"/>
            <a:ext cx="941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Cumple</a:t>
            </a:r>
            <a:endParaRPr 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685800" y="63276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brechas sobre ocho obligaciones. Ninguna se resuelve con un documento: las cinco exigen cambiar la arquitectura.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TEMA ACTUAL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sistema incorpora inteligencia artificial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obligaciones que aparecen y que suelen pasarse por alto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34564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3456432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2240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 internacional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294436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datos a un proveedor de IA alojado fuera del país es una transferencia internacional, aunque sea una llamada a una API.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42062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HACER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4480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dónde se procesa, qué se retiene y por cuánto tiempo. Documentarlo en el registro de tratamiento.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0" y="2011680"/>
            <a:ext cx="34564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011680"/>
            <a:ext cx="345643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45152" y="2240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Finalidad del entrenamiento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645152" y="294436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datos recogidos para prestar un servicio con el fin de entrenar un modelo es una finalidad distinta a la informada.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42062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HACER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4480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autorización específica, o trabajar con datos anonimizados de forma efectiva y no solo con el nombre borrado.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92440" y="2011680"/>
            <a:ext cx="34564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2011680"/>
            <a:ext cx="3456432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48472" y="2240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por rol en las respuestas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48472" y="294436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que consulta documentos internos puede revelarle a un usuario información que su rol no le permite ver.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48472" y="42062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HACER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348472" y="4480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de acceso debe aplicarse a los documentos que alimentan la respuesta, no solo a la pantalla.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" y="576072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 auditoría para cualquier función de IA: ¿qué datos personales salieron del sistema, hacia dónde, con qué autorización y por cuánto tiempo se quedan allá?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BUENAS PRÁCTICAS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desde el diseño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decisiones que salen baratas al diseñar y caras al reparar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53766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537667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2212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Minimizar los datos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2596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solo lo necesario para la finalidad declarada.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41832" y="3108960"/>
            <a:ext cx="484632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9848" y="31089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que no se recoge no se puede filtrar, ni hay que protegerlo, ni justificarlo en auditoría.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2011680"/>
            <a:ext cx="53766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011680"/>
            <a:ext cx="537667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5392" y="2212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Clasificar y etiquetar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65392" y="2596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categoría de sensibilidad a cada tipo de dato desde el modelo de información.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65392" y="3108960"/>
            <a:ext cx="484632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31089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aplicar controles proporcionales en vez de tratar todo igual.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4114800"/>
            <a:ext cx="53766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114800"/>
            <a:ext cx="537667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1832" y="43159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Consentimiento trazable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47000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cuándo, cómo y para qué se obtuvo la autorización.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41832" y="5212080"/>
            <a:ext cx="484632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9848" y="52120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 registro, el consentimiento existe pero no se puede probar, que ante la autoridad es lo mismo que no tenerlo.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09360" y="4114800"/>
            <a:ext cx="53766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4114800"/>
            <a:ext cx="5376672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65392" y="43159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el alcance regulatorio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565392" y="47000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en terceros especializados el manejo de los datos más regulados.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565392" y="5212080"/>
            <a:ext cx="4846320" cy="658368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93408" y="52120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una pasarela de pagos saca del sistema los datos de tarjeta y con ellos buena parte de la carga de cumplimiento.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cuarta es la menos obvia y la más estratégica: el mejor control sobre un dato regulado es no tenerlo.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FUENTES Y HERRAMIENTAS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verificar y con qué trabajar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la fuente oficial antes que el resumen de un blog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2560320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Superintendencia de Industria y Comercio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200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AUTORIDAD DE PROTECCIÓN DE DATOS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5204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la ley, guías, registro de bases de datos y decisiones sancionatorias que sirven como jurisprudencia práctica.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47288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47288" y="2011680"/>
            <a:ext cx="2560320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48456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MinTIC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648456" y="3200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POLÍTICA DE GOBIERNO DIGITAL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648456" y="35204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protección de datos y lineamientos de arquitectura para entidades públicas. Aplica directamente a GobData.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08776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8776" y="2011680"/>
            <a:ext cx="2560320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9944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09944" y="3200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ESTRUCTURA DE CONTROLES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409944" y="35204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cliente no se certifique, el anexo de controles sirve como checklist ordenado de seguridad de la información.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70264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70264" y="2011680"/>
            <a:ext cx="2560320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71432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cumplimiento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171432" y="3200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HOJA DE CÁLCULO DEL EQUIPO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171432" y="35204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obligación, con componente, control, estado y evidencia. Es el entregable del Taller 6.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5989320"/>
            <a:ext cx="10820095" cy="54864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" y="598932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citación del entregable: cada obligación debe citar la norma y el artículo. «Según la ley de datos» no es una cita y no se acepta.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ACTIVIDAD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cumplimiento en clase · 40 minutos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equipos, sobre el sistema del cliente real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01168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213969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Inventariar y clasificar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24505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los datos personales del sistema del cliente a partir de su ERD y asignen categoría a cada uno. Marquen los sensibles.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090672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090672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090672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min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32186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Determinar el alcance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352958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Decidan qué normativa aplica y por qué. Escriban también qué descartan y con qué razón.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169664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169664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169664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42976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cada obligación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460857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Recorran el diagrama de contenedores señalando dónde vive el control de cada obligación. Lo que no tenga componente es una brecha.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5248656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248656"/>
            <a:ext cx="1051560" cy="100584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248656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965960" y="537667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las brechas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1965960" y="568756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Ordenen las brechas por riesgo y digan qué cambio de arquitectura exige cada una.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49640" y="2011680"/>
            <a:ext cx="2953512" cy="41148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7824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ERRORES QUE VAMOS A BUSCAR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256032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listada sin decir por qué aplica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Obligaciones que no se pueden señalar sobre un componente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tratados como datos comunes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sin propuesta de cambio de arquitectura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263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terminar: el resultado es la matriz de cumplimiento del Taller 6, y alimenta la sustentación del segundo corte.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7 · Normatividad y Cumplimiento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17352" cy="5486400"/>
          </a:xfrm>
          <a:prstGeom prst="rect">
            <a:avLst/>
          </a:prstGeom>
          <a:solidFill>
            <a:srgbClr val="16273F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30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LLEVARSE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en cuatro ideas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el alcance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21488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qué aplica y qué no es parte del trabajo, y descartar también es un hallazgo.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26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principios, no seis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260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 y seguridad son los que más consecuencias de diseño tienen y los que más se omiten.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703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obligación vive en un componente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7033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puede señalar sobre el diagrama, todavía no está implementada.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480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control es no tener el dato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4805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y delegar reduce la carga regulatoria por diseño, no por documento.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43000" y="5394960"/>
            <a:ext cx="6949440" cy="685800"/>
          </a:xfrm>
          <a:prstGeom prst="rect">
            <a:avLst/>
          </a:prstGeom>
          <a:solidFill>
            <a:srgbClr val="16273F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53949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Taller 6 · matriz de cumplimiento del sistema del cliente, con brechas priorizadas.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66760" y="2148840"/>
            <a:ext cx="3136392" cy="3931920"/>
          </a:xfrm>
          <a:prstGeom prst="rect">
            <a:avLst/>
          </a:prstGeom>
          <a:solidFill>
            <a:srgbClr val="18304C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2359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LECTURAS RECOMENDADAS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697480"/>
            <a:ext cx="2697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1581 de 2012 y Decreto 1074 de 2015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Superintendencia de Industria y Comercio — guías y RNBD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1712 de 2014 — transparencia y acceso a información pública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MinTIC — Política de Gobierno Digital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— anexo de controles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400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Ing. César Augusto Vega Fernández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7 - Normatividad y Cumplimiento en Arquitectura</dc:title>
  <dc:subject>PptxGenJS Presentation</dc:subject>
  <dc:creator>César Augusto Vega Fernández</dc:creator>
  <cp:lastModifiedBy>César Augusto Vega Fernández</cp:lastModifiedBy>
  <cp:revision>1</cp:revision>
  <dcterms:created xsi:type="dcterms:W3CDTF">2026-09-05T02:07:45Z</dcterms:created>
  <dcterms:modified xsi:type="dcterms:W3CDTF">2026-09-05T02:07:45Z</dcterms:modified>
</cp:coreProperties>
</file>